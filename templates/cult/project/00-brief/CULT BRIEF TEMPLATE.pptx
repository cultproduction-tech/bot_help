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embeddedFontLst>
    <p:embeddedFont>
      <p:font typeface="Golos Text"/>
      <p:regular r:id="rId15"/>
      <p:bold r:id="rId16"/>
    </p:embeddedFont>
    <p:embeddedFont>
      <p:font typeface="Golos Text Medium"/>
      <p:regular r:id="rId17"/>
      <p:bold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Helvetica Neue"/>
      <p:regular r:id="rId23"/>
      <p:bold r:id="rId24"/>
      <p:italic r:id="rId25"/>
      <p:boldItalic r:id="rId26"/>
    </p:embeddedFont>
    <p:embeddedFont>
      <p:font typeface="Helvetica Neue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782">
          <p15:clr>
            <a:srgbClr val="747775"/>
          </p15:clr>
        </p15:guide>
        <p15:guide id="4" pos="5315">
          <p15:clr>
            <a:srgbClr val="747775"/>
          </p15:clr>
        </p15:guide>
        <p15:guide id="5" pos="170">
          <p15:clr>
            <a:srgbClr val="747775"/>
          </p15:clr>
        </p15:guide>
        <p15:guide id="6" orient="horz" pos="2970">
          <p15:clr>
            <a:srgbClr val="747775"/>
          </p15:clr>
        </p15:guide>
        <p15:guide id="7" orient="horz" pos="1913">
          <p15:clr>
            <a:srgbClr val="747775"/>
          </p15:clr>
        </p15:guide>
        <p15:guide id="8" pos="5590">
          <p15:clr>
            <a:srgbClr val="747775"/>
          </p15:clr>
        </p15:guide>
        <p15:guide id="9" orient="horz" pos="170">
          <p15:clr>
            <a:srgbClr val="747775"/>
          </p15:clr>
        </p15:guide>
        <p15:guide id="10" orient="horz" pos="47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1782"/>
        <p:guide pos="5315"/>
        <p:guide pos="170"/>
        <p:guide pos="2970" orient="horz"/>
        <p:guide pos="1913" orient="horz"/>
        <p:guide pos="5590"/>
        <p:guide pos="170" orient="horz"/>
        <p:guide pos="47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HelveticaNeue-bold.fntdata"/><Relationship Id="rId23" Type="http://schemas.openxmlformats.org/officeDocument/2006/relationships/font" Target="fonts/HelveticaNeue-regular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HelveticaNeue-boldItalic.fntdata"/><Relationship Id="rId25" Type="http://schemas.openxmlformats.org/officeDocument/2006/relationships/font" Target="fonts/HelveticaNeue-italic.fntdata"/><Relationship Id="rId28" Type="http://schemas.openxmlformats.org/officeDocument/2006/relationships/font" Target="fonts/HelveticaNeueLight-bold.fntdata"/><Relationship Id="rId27" Type="http://schemas.openxmlformats.org/officeDocument/2006/relationships/font" Target="fonts/HelveticaNeueLight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HelveticaNeueLight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HelveticaNeueLight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font" Target="fonts/GolosText-regular.fntdata"/><Relationship Id="rId14" Type="http://schemas.openxmlformats.org/officeDocument/2006/relationships/slide" Target="slides/slide7.xml"/><Relationship Id="rId17" Type="http://schemas.openxmlformats.org/officeDocument/2006/relationships/font" Target="fonts/GolosTextMedium-regular.fntdata"/><Relationship Id="rId16" Type="http://schemas.openxmlformats.org/officeDocument/2006/relationships/font" Target="fonts/GolosText-bold.fntdata"/><Relationship Id="rId19" Type="http://schemas.openxmlformats.org/officeDocument/2006/relationships/font" Target="fonts/Inter-regular.fntdata"/><Relationship Id="rId18" Type="http://schemas.openxmlformats.org/officeDocument/2006/relationships/font" Target="fonts/GolosTex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3807f406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83807f406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3807f406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3807f406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3807f4060_0_1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83807f4060_0_11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83807f4060_0_11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3807f4060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83807f4060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3807f4060_0_3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83807f4060_0_3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83807f4060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83807f4060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83807f4060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83807f4060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08" y="744574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11699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lnSpcReduction="20000"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633412" y="3571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633412" y="1214437"/>
            <a:ext cx="7877100" cy="3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4480736" y="4905375"/>
            <a:ext cx="17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63;p16"/>
          <p:cNvCxnSpPr/>
          <p:nvPr/>
        </p:nvCxnSpPr>
        <p:spPr>
          <a:xfrm rot="10800000">
            <a:off x="9016683" y="-527911"/>
            <a:ext cx="0" cy="6199200"/>
          </a:xfrm>
          <a:prstGeom prst="straightConnector1">
            <a:avLst/>
          </a:prstGeom>
          <a:noFill/>
          <a:ln cap="flat" cmpd="sng" w="12700">
            <a:solidFill>
              <a:srgbClr val="A9A9A9">
                <a:alpha val="29409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64" name="Google Shape;64;p16"/>
          <p:cNvSpPr txBox="1"/>
          <p:nvPr/>
        </p:nvSpPr>
        <p:spPr>
          <a:xfrm rot="-5400000">
            <a:off x="8817355" y="222665"/>
            <a:ext cx="63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9A9A9"/>
              </a:buClr>
              <a:buSzPts val="500"/>
              <a:buFont typeface="Helvetica Neue"/>
              <a:buNone/>
            </a:pPr>
            <a:r>
              <a:rPr b="1" i="0" lang="ru" sz="500" u="none" cap="none" strike="noStrike">
                <a:solidFill>
                  <a:srgbClr val="A9A9A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EVDOKIMOV GOSHA</a:t>
            </a:r>
            <a:endParaRPr/>
          </a:p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4480624" y="4902398"/>
            <a:ext cx="1791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">
  <p:cSld name="TITLE_4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8" y="744573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375" lIns="91375" spcFirstLastPara="1" rIns="91375" wrap="square" tIns="913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698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590567" y="4641640"/>
            <a:ext cx="430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375" lIns="91375" spcFirstLastPara="1" rIns="91375" wrap="square" tIns="91375">
            <a:normAutofit/>
          </a:bodyPr>
          <a:lstStyle>
            <a:lvl1pPr indent="0" lvl="0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 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8" y="744573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375" lIns="91375" spcFirstLastPara="1" rIns="91375" wrap="square" tIns="913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311698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84396" y="4700844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375" lIns="91375" spcFirstLastPara="1" rIns="91375" wrap="square" tIns="91375">
            <a:normAutofit lnSpcReduction="20000"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699" y="2150849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lnSpcReduction="20000"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>
  <p:cSld name="TITLE_AND_BODY 2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1169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" type="body"/>
          </p:nvPr>
        </p:nvSpPr>
        <p:spPr>
          <a:xfrm>
            <a:off x="311699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lnSpcReduction="20000"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ColTx">
  <p:cSld name="TITLE_AND_TWO_COLUMN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/>
          <p:nvPr>
            <p:ph type="title"/>
          </p:nvPr>
        </p:nvSpPr>
        <p:spPr>
          <a:xfrm>
            <a:off x="31169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" type="body"/>
          </p:nvPr>
        </p:nvSpPr>
        <p:spPr>
          <a:xfrm>
            <a:off x="311699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Char char="○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Char char="■"/>
              <a:defRPr sz="1400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Char char="○"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832399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lnSpcReduction="20000"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title"/>
          </p:nvPr>
        </p:nvSpPr>
        <p:spPr>
          <a:xfrm>
            <a:off x="31169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lnSpcReduction="20000"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type="title"/>
          </p:nvPr>
        </p:nvSpPr>
        <p:spPr>
          <a:xfrm>
            <a:off x="311699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699" y="1389599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lnSpcReduction="20000"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type="title"/>
          </p:nvPr>
        </p:nvSpPr>
        <p:spPr>
          <a:xfrm>
            <a:off x="490250" y="450149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lnSpcReduction="20000"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2" type="body"/>
          </p:nvPr>
        </p:nvSpPr>
        <p:spPr>
          <a:xfrm>
            <a:off x="4939500" y="724074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lnSpcReduction="20000"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/>
          <p:nvPr>
            <p:ph idx="1" type="body"/>
          </p:nvPr>
        </p:nvSpPr>
        <p:spPr>
          <a:xfrm>
            <a:off x="311699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104" name="Google Shape;104;p26"/>
          <p:cNvSpPr txBox="1"/>
          <p:nvPr>
            <p:ph idx="12" type="sldNum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lnSpcReduction="20000"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/>
          <p:nvPr>
            <p:ph hasCustomPrompt="1" type="title"/>
          </p:nvPr>
        </p:nvSpPr>
        <p:spPr>
          <a:xfrm>
            <a:off x="311699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7" name="Google Shape;107;p27"/>
          <p:cNvSpPr txBox="1"/>
          <p:nvPr>
            <p:ph idx="1" type="body"/>
          </p:nvPr>
        </p:nvSpPr>
        <p:spPr>
          <a:xfrm>
            <a:off x="311699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7"/>
          <p:cNvSpPr txBox="1"/>
          <p:nvPr>
            <p:ph idx="12" type="sldNum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lnSpcReduction="20000"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8"/>
          <p:cNvSpPr txBox="1"/>
          <p:nvPr>
            <p:ph idx="12" type="sldNum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lnSpcReduction="20000"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 txBox="1"/>
          <p:nvPr>
            <p:ph type="title"/>
          </p:nvPr>
        </p:nvSpPr>
        <p:spPr>
          <a:xfrm>
            <a:off x="892969" y="863946"/>
            <a:ext cx="7358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58925" lIns="58925" spcFirstLastPara="1" rIns="58925" wrap="square" tIns="58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3" name="Google Shape;113;p29"/>
          <p:cNvSpPr txBox="1"/>
          <p:nvPr>
            <p:ph idx="1" type="body"/>
          </p:nvPr>
        </p:nvSpPr>
        <p:spPr>
          <a:xfrm>
            <a:off x="892969" y="2652116"/>
            <a:ext cx="73581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29"/>
          <p:cNvSpPr txBox="1"/>
          <p:nvPr>
            <p:ph idx="12" type="sldNum"/>
          </p:nvPr>
        </p:nvSpPr>
        <p:spPr>
          <a:xfrm>
            <a:off x="4443598" y="4878958"/>
            <a:ext cx="2478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25" lIns="32725" spcFirstLastPara="1" rIns="32725" wrap="square" tIns="327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"/>
          <p:cNvSpPr txBox="1"/>
          <p:nvPr>
            <p:ph type="title"/>
          </p:nvPr>
        </p:nvSpPr>
        <p:spPr>
          <a:xfrm>
            <a:off x="311708" y="744573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375" lIns="91375" spcFirstLastPara="1" rIns="91375" wrap="square" tIns="913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30"/>
          <p:cNvSpPr txBox="1"/>
          <p:nvPr>
            <p:ph idx="1" type="body"/>
          </p:nvPr>
        </p:nvSpPr>
        <p:spPr>
          <a:xfrm>
            <a:off x="311698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30"/>
          <p:cNvSpPr txBox="1"/>
          <p:nvPr>
            <p:ph idx="12" type="sldNum"/>
          </p:nvPr>
        </p:nvSpPr>
        <p:spPr>
          <a:xfrm>
            <a:off x="8590466" y="4641591"/>
            <a:ext cx="430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375" lIns="91375" spcFirstLastPara="1" rIns="91375" wrap="square" tIns="91375">
            <a:normAutofit/>
          </a:bodyPr>
          <a:lstStyle>
            <a:lvl1pPr indent="0" lvl="0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/>
          <p:nvPr>
            <p:ph type="title"/>
          </p:nvPr>
        </p:nvSpPr>
        <p:spPr>
          <a:xfrm>
            <a:off x="311708" y="744573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375" lIns="91375" spcFirstLastPara="1" rIns="91375" wrap="square" tIns="913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21" name="Google Shape;121;p31"/>
          <p:cNvSpPr txBox="1"/>
          <p:nvPr>
            <p:ph idx="1" type="body"/>
          </p:nvPr>
        </p:nvSpPr>
        <p:spPr>
          <a:xfrm>
            <a:off x="311698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1"/>
          <p:cNvSpPr txBox="1"/>
          <p:nvPr>
            <p:ph idx="12" type="sldNum"/>
          </p:nvPr>
        </p:nvSpPr>
        <p:spPr>
          <a:xfrm>
            <a:off x="8590567" y="4641640"/>
            <a:ext cx="430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375" lIns="91375" spcFirstLastPara="1" rIns="91375" wrap="square" tIns="91375">
            <a:normAutofit/>
          </a:bodyPr>
          <a:lstStyle>
            <a:lvl1pPr indent="0" lvl="0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  <a:def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 1">
  <p:cSld name="Заголовок и пункты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type="title"/>
          </p:nvPr>
        </p:nvSpPr>
        <p:spPr>
          <a:xfrm>
            <a:off x="633412" y="3571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25" name="Google Shape;125;p32"/>
          <p:cNvSpPr txBox="1"/>
          <p:nvPr>
            <p:ph idx="1" type="body"/>
          </p:nvPr>
        </p:nvSpPr>
        <p:spPr>
          <a:xfrm>
            <a:off x="633412" y="1214437"/>
            <a:ext cx="7877100" cy="3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32"/>
          <p:cNvSpPr txBox="1"/>
          <p:nvPr>
            <p:ph idx="12" type="sldNum"/>
          </p:nvPr>
        </p:nvSpPr>
        <p:spPr>
          <a:xfrm>
            <a:off x="4480736" y="4905375"/>
            <a:ext cx="17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Google Shape;128;p33"/>
          <p:cNvCxnSpPr/>
          <p:nvPr/>
        </p:nvCxnSpPr>
        <p:spPr>
          <a:xfrm rot="10800000">
            <a:off x="9016683" y="-527911"/>
            <a:ext cx="0" cy="6199200"/>
          </a:xfrm>
          <a:prstGeom prst="straightConnector1">
            <a:avLst/>
          </a:prstGeom>
          <a:noFill/>
          <a:ln cap="flat" cmpd="sng" w="12700">
            <a:solidFill>
              <a:srgbClr val="A9A9A9">
                <a:alpha val="29409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29" name="Google Shape;129;p33"/>
          <p:cNvSpPr txBox="1"/>
          <p:nvPr/>
        </p:nvSpPr>
        <p:spPr>
          <a:xfrm rot="-5400000">
            <a:off x="8817355" y="222665"/>
            <a:ext cx="63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9A9A9"/>
              </a:buClr>
              <a:buSzPts val="500"/>
              <a:buFont typeface="Helvetica Neue"/>
              <a:buNone/>
            </a:pPr>
            <a:r>
              <a:rPr b="1" i="0" lang="ru" sz="500" u="none" cap="none" strike="noStrike">
                <a:solidFill>
                  <a:srgbClr val="A9A9A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EVDOKIMOV GOSHA</a:t>
            </a:r>
            <a:endParaRPr/>
          </a:p>
        </p:txBody>
      </p:sp>
      <p:sp>
        <p:nvSpPr>
          <p:cNvPr id="130" name="Google Shape;130;p33"/>
          <p:cNvSpPr txBox="1"/>
          <p:nvPr>
            <p:ph idx="12" type="sldNum"/>
          </p:nvPr>
        </p:nvSpPr>
        <p:spPr>
          <a:xfrm>
            <a:off x="4480624" y="4902398"/>
            <a:ext cx="1791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 Light"/>
              <a:buNone/>
              <a:defRPr sz="800"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b="0" i="0" u="none" cap="none" strike="noStrike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5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3" name="Google Shape;133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4" name="Google Shape;13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6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7" name="Google Shape;137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8" name="Google Shape;13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7">
  <p:cSld name="TITLE_7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1" name="Google Shape;141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2" name="Google Shape;142;p36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8">
  <p:cSld name="TITLE_8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5" name="Google Shape;145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6" name="Google Shape;146;p37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9">
  <p:cSld name="TITLE_9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9" name="Google Shape;149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0" name="Google Shape;150;p38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0">
  <p:cSld name="TITLE_10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3" name="Google Shape;153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4" name="Google Shape;154;p39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1" name="Google Shape;161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2" name="Google Shape;16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5" name="Google Shape;16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68" name="Google Shape;16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9" name="Google Shape;169;p43"/>
          <p:cNvSpPr txBox="1"/>
          <p:nvPr>
            <p:ph idx="12" type="sldNum"/>
          </p:nvPr>
        </p:nvSpPr>
        <p:spPr>
          <a:xfrm>
            <a:off x="8524144" y="47370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72" name="Google Shape;172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3" name="Google Shape;173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4" name="Google Shape;17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77" name="Google Shape;17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0" name="Google Shape;180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1" name="Google Shape;18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4" name="Google Shape;18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8" name="Google Shape;188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9" name="Google Shape;189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0" name="Google Shape;19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193" name="Google Shape;193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6" name="Google Shape;196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7" name="Google Shape;19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33412" y="3571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  <a:defRPr b="0" i="0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33412" y="1214437"/>
            <a:ext cx="7877100" cy="3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rgbClr val="58585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42900" lvl="1" marL="9144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rgbClr val="58585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rgbClr val="58585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rgbClr val="58585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rgbClr val="58585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rgbClr val="58585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rgbClr val="58585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rgbClr val="58585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rgbClr val="58585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80736" y="4905375"/>
            <a:ext cx="17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57" name="Google Shape;15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los Text"/>
              <a:buChar char="●"/>
              <a:defRPr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●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●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58" name="Google Shape;15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9F9F9"/>
            </a:gs>
            <a:gs pos="100000">
              <a:srgbClr val="E8E8E8"/>
            </a:gs>
          </a:gsLst>
          <a:lin ang="5400012" scaled="0"/>
        </a:gra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53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75" y="188641"/>
            <a:ext cx="8759525" cy="237383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3"/>
          <p:cNvSpPr txBox="1"/>
          <p:nvPr/>
        </p:nvSpPr>
        <p:spPr>
          <a:xfrm>
            <a:off x="51275" y="4282713"/>
            <a:ext cx="351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latin typeface="Golos Text"/>
                <a:ea typeface="Golos Text"/>
                <a:cs typeface="Golos Text"/>
                <a:sym typeface="Golos Text"/>
              </a:rPr>
              <a:t>Brief</a:t>
            </a:r>
            <a:endParaRPr sz="4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7" name="Google Shape;207;p53"/>
          <p:cNvSpPr txBox="1"/>
          <p:nvPr/>
        </p:nvSpPr>
        <p:spPr>
          <a:xfrm>
            <a:off x="3638800" y="4282725"/>
            <a:ext cx="531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4000">
                <a:latin typeface="Golos Text"/>
                <a:ea typeface="Golos Text"/>
                <a:cs typeface="Golos Text"/>
                <a:sym typeface="Golos Text"/>
              </a:rPr>
              <a:t>Название проекта</a:t>
            </a:r>
            <a:endParaRPr i="1" sz="4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8" name="Google Shape;208;p53"/>
          <p:cNvSpPr txBox="1"/>
          <p:nvPr/>
        </p:nvSpPr>
        <p:spPr>
          <a:xfrm>
            <a:off x="51275" y="2758375"/>
            <a:ext cx="248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*в правом углу укажи название проекта, этот блок удали</a:t>
            </a:r>
            <a:endParaRPr i="1"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4"/>
          <p:cNvSpPr txBox="1"/>
          <p:nvPr/>
        </p:nvSpPr>
        <p:spPr>
          <a:xfrm>
            <a:off x="38320" y="-12803"/>
            <a:ext cx="8214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latin typeface="Golos Text"/>
                <a:ea typeface="Golos Text"/>
                <a:cs typeface="Golos Text"/>
                <a:sym typeface="Golos Text"/>
              </a:rPr>
              <a:t>Задача</a:t>
            </a:r>
            <a:endParaRPr sz="5000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14" name="Google Shape;214;p54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4133843" y="290322"/>
            <a:ext cx="574776" cy="33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0" name="Google Shape;22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411603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817569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2" name="Google Shape;22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1292144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3" name="Google Shape;22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1676233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4" name="Google Shape;22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2279824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5" name="Google Shape;22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2773654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6" name="Google Shape;22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3589865"/>
            <a:ext cx="5707334" cy="595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5"/>
          <p:cNvSpPr/>
          <p:nvPr/>
        </p:nvSpPr>
        <p:spPr>
          <a:xfrm>
            <a:off x="8472488" y="4880074"/>
            <a:ext cx="557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5076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50"/>
              <a:buFont typeface="Arial"/>
              <a:buNone/>
            </a:pPr>
            <a:r>
              <a:rPr b="0" i="0" lang="ru" sz="650" u="none" cap="none" strike="noStrik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" sz="650">
                <a:solidFill>
                  <a:srgbClr val="363636"/>
                </a:solidFill>
              </a:rPr>
              <a:t>9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5"/>
          <p:cNvSpPr/>
          <p:nvPr/>
        </p:nvSpPr>
        <p:spPr>
          <a:xfrm>
            <a:off x="3088400" y="34022"/>
            <a:ext cx="3085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Формат / Количество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229" name="Google Shape;229;p55" title="LOGO_RGB_pin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55"/>
          <p:cNvSpPr txBox="1"/>
          <p:nvPr/>
        </p:nvSpPr>
        <p:spPr>
          <a:xfrm>
            <a:off x="115693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Задача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grpSp>
        <p:nvGrpSpPr>
          <p:cNvPr id="231" name="Google Shape;231;p55"/>
          <p:cNvGrpSpPr/>
          <p:nvPr/>
        </p:nvGrpSpPr>
        <p:grpSpPr>
          <a:xfrm>
            <a:off x="3171818" y="4784525"/>
            <a:ext cx="2155957" cy="276900"/>
            <a:chOff x="177243" y="4728600"/>
            <a:chExt cx="2155957" cy="276900"/>
          </a:xfrm>
        </p:grpSpPr>
        <p:sp>
          <p:nvSpPr>
            <p:cNvPr id="232" name="Google Shape;232;p55"/>
            <p:cNvSpPr/>
            <p:nvPr/>
          </p:nvSpPr>
          <p:spPr>
            <a:xfrm>
              <a:off x="18460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33" name="Google Shape;233;p55"/>
            <p:cNvSpPr txBox="1"/>
            <p:nvPr/>
          </p:nvSpPr>
          <p:spPr>
            <a:xfrm>
              <a:off x="17724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>
                  <a:latin typeface="Golos Text Medium"/>
                  <a:ea typeface="Golos Text Medium"/>
                  <a:cs typeface="Golos Text Medium"/>
                  <a:sym typeface="Golos Text Medium"/>
                </a:rPr>
                <a:t>Brief</a:t>
              </a:r>
              <a:endParaRPr sz="600"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34" name="Google Shape;234;p55"/>
            <p:cNvSpPr/>
            <p:nvPr/>
          </p:nvSpPr>
          <p:spPr>
            <a:xfrm>
              <a:off x="216379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35" name="Google Shape;235;p55"/>
            <p:cNvSpPr/>
            <p:nvPr/>
          </p:nvSpPr>
          <p:spPr>
            <a:xfrm rot="5400000">
              <a:off x="220559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236" name="Google Shape;236;p55"/>
          <p:cNvSpPr/>
          <p:nvPr/>
        </p:nvSpPr>
        <p:spPr>
          <a:xfrm>
            <a:off x="3088400" y="440512"/>
            <a:ext cx="3085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Хронометраж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37" name="Google Shape;237;p55"/>
          <p:cNvSpPr/>
          <p:nvPr/>
        </p:nvSpPr>
        <p:spPr>
          <a:xfrm>
            <a:off x="3088400" y="855115"/>
            <a:ext cx="3085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Права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38" name="Google Shape;238;p55"/>
          <p:cNvSpPr/>
          <p:nvPr/>
        </p:nvSpPr>
        <p:spPr>
          <a:xfrm>
            <a:off x="3088400" y="1277038"/>
            <a:ext cx="3085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Формат / Права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39" name="Google Shape;239;p55"/>
          <p:cNvSpPr/>
          <p:nvPr/>
        </p:nvSpPr>
        <p:spPr>
          <a:xfrm>
            <a:off x="3088400" y="1768174"/>
            <a:ext cx="3085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Дата смены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40" name="Google Shape;240;p55"/>
          <p:cNvSpPr/>
          <p:nvPr/>
        </p:nvSpPr>
        <p:spPr>
          <a:xfrm>
            <a:off x="3088400" y="2329763"/>
            <a:ext cx="3085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Срок сдачи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descr="preencoded.png" id="241" name="Google Shape;24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411603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817569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3" name="Google Shape;24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1292144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4" name="Google Shape;24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1676233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5" name="Google Shape;24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2279824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6" name="Google Shape;24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2773654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7" name="Google Shape;24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3589865"/>
            <a:ext cx="5707334" cy="5953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55"/>
          <p:cNvSpPr/>
          <p:nvPr/>
        </p:nvSpPr>
        <p:spPr>
          <a:xfrm>
            <a:off x="5939700" y="889919"/>
            <a:ext cx="32043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Интернет, 1 год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9" name="Google Shape;249;p55"/>
          <p:cNvSpPr/>
          <p:nvPr/>
        </p:nvSpPr>
        <p:spPr>
          <a:xfrm>
            <a:off x="5939700" y="2328626"/>
            <a:ext cx="3204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ООН ( фото )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Россия, 1 год</a:t>
            </a:r>
            <a:endParaRPr sz="9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0" name="Google Shape;250;p55"/>
          <p:cNvSpPr/>
          <p:nvPr/>
        </p:nvSpPr>
        <p:spPr>
          <a:xfrm>
            <a:off x="5939700" y="34019"/>
            <a:ext cx="3204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OLV (16:9) – 1 видеоролик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2"/>
              <a:buFont typeface="Arial"/>
              <a:buNone/>
            </a:pPr>
            <a:r>
              <a:t/>
            </a:r>
            <a:endParaRPr sz="9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1" name="Google Shape;251;p55"/>
          <p:cNvSpPr/>
          <p:nvPr/>
        </p:nvSpPr>
        <p:spPr>
          <a:xfrm>
            <a:off x="5939700" y="1275196"/>
            <a:ext cx="3204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Радиоролик 15 сек Россия, Радио, 1 год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2" name="Google Shape;252;p55"/>
          <p:cNvSpPr/>
          <p:nvPr/>
        </p:nvSpPr>
        <p:spPr>
          <a:xfrm>
            <a:off x="5939700" y="1719472"/>
            <a:ext cx="3204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Интернет-баннеры ( фото )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Интернет, 1 год </a:t>
            </a:r>
            <a:endParaRPr sz="9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3" name="Google Shape;253;p55"/>
          <p:cNvSpPr/>
          <p:nvPr/>
        </p:nvSpPr>
        <p:spPr>
          <a:xfrm>
            <a:off x="5939700" y="436381"/>
            <a:ext cx="3204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30 сек ( 3 ката по 10 сек )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descr="preencoded.png" id="254" name="Google Shape;25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3239317"/>
            <a:ext cx="5707334" cy="595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5"/>
          <p:cNvSpPr/>
          <p:nvPr/>
        </p:nvSpPr>
        <p:spPr>
          <a:xfrm>
            <a:off x="3088400" y="2795425"/>
            <a:ext cx="2409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Доп.строчка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descr="preencoded.png" id="256" name="Google Shape;25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3239317"/>
            <a:ext cx="5707334" cy="595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55"/>
          <p:cNvSpPr/>
          <p:nvPr/>
        </p:nvSpPr>
        <p:spPr>
          <a:xfrm>
            <a:off x="5939700" y="2794288"/>
            <a:ext cx="3204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доп.инфа</a:t>
            </a:r>
            <a:endParaRPr sz="900"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6"/>
          <p:cNvSpPr txBox="1"/>
          <p:nvPr/>
        </p:nvSpPr>
        <p:spPr>
          <a:xfrm>
            <a:off x="115700" y="45100"/>
            <a:ext cx="43653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Подход и продакшн-ограничения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263" name="Google Shape;263;p56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56"/>
          <p:cNvGrpSpPr/>
          <p:nvPr/>
        </p:nvGrpSpPr>
        <p:grpSpPr>
          <a:xfrm>
            <a:off x="4481016" y="4816810"/>
            <a:ext cx="1510679" cy="194110"/>
            <a:chOff x="4571993" y="4682576"/>
            <a:chExt cx="2155957" cy="356100"/>
          </a:xfrm>
        </p:grpSpPr>
        <p:sp>
          <p:nvSpPr>
            <p:cNvPr id="265" name="Google Shape;265;p56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66" name="Google Shape;266;p56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Brief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67" name="Google Shape;267;p56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68" name="Google Shape;268;p56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pic>
        <p:nvPicPr>
          <p:cNvPr id="269" name="Google Shape;269;p56" title="Rectangle 240649282.png"/>
          <p:cNvPicPr preferRelativeResize="0"/>
          <p:nvPr/>
        </p:nvPicPr>
        <p:blipFill rotWithShape="1">
          <a:blip r:embed="rId4">
            <a:alphaModFix/>
          </a:blip>
          <a:srcRect b="37962" l="0" r="0" t="37964"/>
          <a:stretch/>
        </p:blipFill>
        <p:spPr>
          <a:xfrm>
            <a:off x="4481025" y="977340"/>
            <a:ext cx="4471200" cy="2279700"/>
          </a:xfrm>
          <a:prstGeom prst="roundRect">
            <a:avLst>
              <a:gd fmla="val 2021" name="adj"/>
            </a:avLst>
          </a:prstGeom>
          <a:noFill/>
          <a:ln>
            <a:noFill/>
          </a:ln>
        </p:spPr>
      </p:pic>
      <p:sp>
        <p:nvSpPr>
          <p:cNvPr id="270" name="Google Shape;270;p56"/>
          <p:cNvSpPr txBox="1"/>
          <p:nvPr/>
        </p:nvSpPr>
        <p:spPr>
          <a:xfrm>
            <a:off x="438075" y="879225"/>
            <a:ext cx="34239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Нам очень близок бриф, присланный вами. 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Мы искренне верим, что можно и нужно 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 гордостью говорить про русскую культуру 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 новым, не “лубочным” визуальным языком.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Однако ввиду непростых времен в культуре 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и обществе, мы не можем позволить себе занять “острую” позицию, возвышать только заслуги прошлого или величие народа.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Мы написали несколько сценариев самостоятельно и немного адаптировали сценарии, придуманные вами. 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71" name="Google Shape;271;p56" title="12.png"/>
          <p:cNvPicPr preferRelativeResize="0"/>
          <p:nvPr/>
        </p:nvPicPr>
        <p:blipFill rotWithShape="1">
          <a:blip r:embed="rId5">
            <a:alphaModFix/>
          </a:blip>
          <a:srcRect b="23328" l="0" r="10281" t="23662"/>
          <a:stretch/>
        </p:blipFill>
        <p:spPr>
          <a:xfrm>
            <a:off x="152334" y="977343"/>
            <a:ext cx="255431" cy="1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7"/>
          <p:cNvSpPr txBox="1"/>
          <p:nvPr/>
        </p:nvSpPr>
        <p:spPr>
          <a:xfrm>
            <a:off x="115702" y="45100"/>
            <a:ext cx="6756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Референс 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8"/>
          <p:cNvSpPr txBox="1"/>
          <p:nvPr/>
        </p:nvSpPr>
        <p:spPr>
          <a:xfrm>
            <a:off x="38322" y="1855760"/>
            <a:ext cx="3516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latin typeface="Golos Text"/>
                <a:ea typeface="Golos Text"/>
                <a:cs typeface="Golos Text"/>
                <a:sym typeface="Golos Text"/>
              </a:rPr>
              <a:t>Любой</a:t>
            </a:r>
            <a:endParaRPr sz="5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82" name="Google Shape;282;p58"/>
          <p:cNvSpPr txBox="1"/>
          <p:nvPr/>
        </p:nvSpPr>
        <p:spPr>
          <a:xfrm>
            <a:off x="1923373" y="2040910"/>
            <a:ext cx="63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latin typeface="Golos Text"/>
                <a:ea typeface="Golos Text"/>
                <a:cs typeface="Golos Text"/>
                <a:sym typeface="Golos Text"/>
              </a:rPr>
              <a:t>подраздел</a:t>
            </a:r>
            <a:endParaRPr sz="5000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83" name="Google Shape;283;p58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8377215" y="2159820"/>
            <a:ext cx="574776" cy="33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9F9F9"/>
            </a:gs>
            <a:gs pos="100000">
              <a:srgbClr val="E8E8E8"/>
            </a:gs>
          </a:gsLst>
          <a:lin ang="5400012" scaled="0"/>
        </a:gra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59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75" y="2574285"/>
            <a:ext cx="8759525" cy="237383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9"/>
          <p:cNvSpPr txBox="1"/>
          <p:nvPr/>
        </p:nvSpPr>
        <p:spPr>
          <a:xfrm>
            <a:off x="80588" y="-14654"/>
            <a:ext cx="585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Golos Text"/>
                <a:ea typeface="Golos Text"/>
                <a:cs typeface="Golos Text"/>
                <a:sym typeface="Golos Text"/>
              </a:rPr>
              <a:t>Увидимся на площадке!</a:t>
            </a:r>
            <a:endParaRPr sz="3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0" name="Google Shape;290;p59"/>
          <p:cNvSpPr txBox="1"/>
          <p:nvPr/>
        </p:nvSpPr>
        <p:spPr>
          <a:xfrm>
            <a:off x="6571100" y="381000"/>
            <a:ext cx="279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Golos Text"/>
                <a:ea typeface="Golos Text"/>
                <a:cs typeface="Golos Text"/>
                <a:sym typeface="Golos Text"/>
              </a:rPr>
              <a:t>Давайте</a:t>
            </a:r>
            <a:endParaRPr sz="30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Golos Text"/>
                <a:ea typeface="Golos Text"/>
                <a:cs typeface="Golos Text"/>
                <a:sym typeface="Golos Text"/>
              </a:rPr>
              <a:t>снимать </a:t>
            </a:r>
            <a:endParaRPr/>
          </a:p>
        </p:txBody>
      </p:sp>
      <p:pic>
        <p:nvPicPr>
          <p:cNvPr id="291" name="Google Shape;291;p59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5975708" y="463428"/>
            <a:ext cx="567200" cy="3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