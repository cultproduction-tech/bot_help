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Golos Text"/>
      <p:regular r:id="rId15"/>
      <p:bold r:id="rId16"/>
    </p:embeddedFont>
    <p:embeddedFont>
      <p:font typeface="Golos Text Medium"/>
      <p:regular r:id="rId17"/>
      <p:bold r:id="rId18"/>
    </p:embeddedFont>
    <p:embeddedFont>
      <p:font typeface="Helvetica Neue"/>
      <p:regular r:id="rId19"/>
      <p:bold r:id="rId20"/>
      <p:italic r:id="rId21"/>
      <p:boldItalic r:id="rId22"/>
    </p:embeddedFont>
    <p:embeddedFont>
      <p:font typeface="Helvetica Neue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0">
          <p15:clr>
            <a:srgbClr val="A4A3A4"/>
          </p15:clr>
        </p15:guide>
        <p15:guide id="2" pos="2854">
          <p15:clr>
            <a:srgbClr val="A4A3A4"/>
          </p15:clr>
        </p15:guide>
        <p15:guide id="3" pos="227">
          <p15:clr>
            <a:srgbClr val="9AA0A6"/>
          </p15:clr>
        </p15:guide>
        <p15:guide id="4" orient="horz" pos="2910">
          <p15:clr>
            <a:srgbClr val="A4A3A4"/>
          </p15:clr>
        </p15:guide>
        <p15:guide id="5" pos="3175">
          <p15:clr>
            <a:srgbClr val="9AA0A6"/>
          </p15:clr>
        </p15:guide>
        <p15:guide id="6" pos="1797">
          <p15:clr>
            <a:srgbClr val="9AA0A6"/>
          </p15:clr>
        </p15:guide>
        <p15:guide id="7" orient="horz" pos="1620">
          <p15:clr>
            <a:srgbClr val="9AA0A6"/>
          </p15:clr>
        </p15:guide>
        <p15:guide id="8" orient="horz" pos="542">
          <p15:clr>
            <a:srgbClr val="9AA0A6"/>
          </p15:clr>
        </p15:guide>
        <p15:guide id="9" orient="horz" pos="1851">
          <p15:clr>
            <a:srgbClr val="9AA0A6"/>
          </p15:clr>
        </p15:guide>
        <p15:guide id="10" pos="531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0" orient="horz"/>
        <p:guide pos="2854"/>
        <p:guide pos="227"/>
        <p:guide pos="2910" orient="horz"/>
        <p:guide pos="3175"/>
        <p:guide pos="1797"/>
        <p:guide pos="1620" orient="horz"/>
        <p:guide pos="542" orient="horz"/>
        <p:guide pos="1851" orient="horz"/>
        <p:guide pos="53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24" Type="http://schemas.openxmlformats.org/officeDocument/2006/relationships/font" Target="fonts/HelveticaNeueLight-bold.fntdata"/><Relationship Id="rId23" Type="http://schemas.openxmlformats.org/officeDocument/2006/relationships/font" Target="fonts/HelveticaNeueLigh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Light-boldItalic.fntdata"/><Relationship Id="rId25" Type="http://schemas.openxmlformats.org/officeDocument/2006/relationships/font" Target="fonts/HelveticaNeue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GolosText-regular.fntdata"/><Relationship Id="rId14" Type="http://schemas.openxmlformats.org/officeDocument/2006/relationships/slide" Target="slides/slide8.xml"/><Relationship Id="rId17" Type="http://schemas.openxmlformats.org/officeDocument/2006/relationships/font" Target="fonts/GolosTextMedium-regular.fntdata"/><Relationship Id="rId16" Type="http://schemas.openxmlformats.org/officeDocument/2006/relationships/font" Target="fonts/GolosText-bold.fntdata"/><Relationship Id="rId19" Type="http://schemas.openxmlformats.org/officeDocument/2006/relationships/font" Target="fonts/HelveticaNeue-regular.fntdata"/><Relationship Id="rId18" Type="http://schemas.openxmlformats.org/officeDocument/2006/relationships/font" Target="fonts/GolosTex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37bace047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37bace04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37bace047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37bace047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37bace047_0_1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837bace047_0_18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837bace047_0_18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37bace047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37bace04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37bace047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37bace04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37bace047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837bace04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37bace047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837bace047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37bace047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37bace04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92969" y="863947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b="0" i="0" sz="5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92969" y="265211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6550" lvl="6" marL="3200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6550" lvl="7" marL="3657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6550" lvl="8" marL="4114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33413" y="357188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33413" y="1214438"/>
            <a:ext cx="78771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23850" lvl="0" marL="457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•"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79400" lvl="5" marL="27432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524144" y="47370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los Text"/>
              <a:buChar char="●"/>
              <a:defRPr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8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188641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8"/>
          <p:cNvSpPr txBox="1"/>
          <p:nvPr/>
        </p:nvSpPr>
        <p:spPr>
          <a:xfrm>
            <a:off x="51275" y="4282713"/>
            <a:ext cx="351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Golos Text"/>
                <a:ea typeface="Golos Text"/>
                <a:cs typeface="Golos Text"/>
                <a:sym typeface="Golos Text"/>
              </a:rPr>
              <a:t>Продакшн -</a:t>
            </a:r>
            <a:endParaRPr sz="4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0" name="Google Shape;110;p28"/>
          <p:cNvSpPr txBox="1"/>
          <p:nvPr/>
        </p:nvSpPr>
        <p:spPr>
          <a:xfrm>
            <a:off x="6669200" y="4282725"/>
            <a:ext cx="228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Golos Text"/>
                <a:ea typeface="Golos Text"/>
                <a:cs typeface="Golos Text"/>
                <a:sym typeface="Golos Text"/>
              </a:rPr>
              <a:t>подход</a:t>
            </a:r>
            <a:endParaRPr sz="4000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 txBox="1"/>
          <p:nvPr/>
        </p:nvSpPr>
        <p:spPr>
          <a:xfrm>
            <a:off x="38344" y="-19195"/>
            <a:ext cx="29727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500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Привет!</a:t>
            </a:r>
            <a:endParaRPr sz="5500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16" name="Google Shape;116;p29"/>
          <p:cNvSpPr txBox="1"/>
          <p:nvPr/>
        </p:nvSpPr>
        <p:spPr>
          <a:xfrm>
            <a:off x="4476625" y="40375"/>
            <a:ext cx="3463500" cy="1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этой презентации мы объясним               продакшн-подход, которым мы         руководствовались при 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составлении КП.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17" name="Google Shape;117;p29" title="12.png"/>
          <p:cNvPicPr preferRelativeResize="0"/>
          <p:nvPr/>
        </p:nvPicPr>
        <p:blipFill rotWithShape="1">
          <a:blip r:embed="rId3">
            <a:alphaModFix/>
          </a:blip>
          <a:srcRect b="23328" l="0" r="10281" t="23662"/>
          <a:stretch/>
        </p:blipFill>
        <p:spPr>
          <a:xfrm>
            <a:off x="4078293" y="122466"/>
            <a:ext cx="389126" cy="22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9" title="LOGO_RGB_pin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82" y="4768352"/>
            <a:ext cx="715975" cy="1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9"/>
          <p:cNvSpPr txBox="1"/>
          <p:nvPr/>
        </p:nvSpPr>
        <p:spPr>
          <a:xfrm>
            <a:off x="4571993" y="4728600"/>
            <a:ext cx="1292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">
                <a:latin typeface="Golos Text Medium"/>
                <a:ea typeface="Golos Text Medium"/>
                <a:cs typeface="Golos Text Medium"/>
                <a:sym typeface="Golos Text Medium"/>
              </a:rPr>
              <a:t>Продакшн-подход</a:t>
            </a:r>
            <a:endParaRPr sz="600"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grpSp>
        <p:nvGrpSpPr>
          <p:cNvPr id="120" name="Google Shape;120;p29"/>
          <p:cNvGrpSpPr/>
          <p:nvPr/>
        </p:nvGrpSpPr>
        <p:grpSpPr>
          <a:xfrm>
            <a:off x="4571993" y="4728600"/>
            <a:ext cx="2155957" cy="276900"/>
            <a:chOff x="177243" y="4728600"/>
            <a:chExt cx="2155957" cy="276900"/>
          </a:xfrm>
        </p:grpSpPr>
        <p:sp>
          <p:nvSpPr>
            <p:cNvPr id="121" name="Google Shape;121;p29"/>
            <p:cNvSpPr/>
            <p:nvPr/>
          </p:nvSpPr>
          <p:spPr>
            <a:xfrm>
              <a:off x="18460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22" name="Google Shape;122;p29"/>
            <p:cNvSpPr txBox="1"/>
            <p:nvPr/>
          </p:nvSpPr>
          <p:spPr>
            <a:xfrm>
              <a:off x="17724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>
                  <a:latin typeface="Golos Text Medium"/>
                  <a:ea typeface="Golos Text Medium"/>
                  <a:cs typeface="Golos Text Medium"/>
                  <a:sym typeface="Golos Text Medium"/>
                </a:rPr>
                <a:t>Продакшн-подход</a:t>
              </a:r>
              <a:endParaRPr sz="600"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23" name="Google Shape;123;p29"/>
            <p:cNvSpPr/>
            <p:nvPr/>
          </p:nvSpPr>
          <p:spPr>
            <a:xfrm>
              <a:off x="216379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24" name="Google Shape;124;p29"/>
            <p:cNvSpPr/>
            <p:nvPr/>
          </p:nvSpPr>
          <p:spPr>
            <a:xfrm rot="5400000">
              <a:off x="220559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411603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817569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129214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1676233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227982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2773654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3205776"/>
            <a:ext cx="5707334" cy="5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1825" y="3589865"/>
            <a:ext cx="5707334" cy="595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0"/>
          <p:cNvSpPr/>
          <p:nvPr/>
        </p:nvSpPr>
        <p:spPr>
          <a:xfrm>
            <a:off x="8472488" y="4880074"/>
            <a:ext cx="557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5076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50"/>
              <a:buFont typeface="Arial"/>
              <a:buNone/>
            </a:pPr>
            <a:r>
              <a:rPr b="0" i="0" lang="ru" sz="650" u="none" cap="none" strike="noStrike">
                <a:solidFill>
                  <a:srgbClr val="36363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" sz="650">
                <a:solidFill>
                  <a:srgbClr val="363636"/>
                </a:solidFill>
              </a:rPr>
              <a:t>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0"/>
          <p:cNvSpPr/>
          <p:nvPr/>
        </p:nvSpPr>
        <p:spPr>
          <a:xfrm>
            <a:off x="3088400" y="76072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i="0" lang="ru" sz="1242" u="none" cap="none" strike="noStrike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</a:t>
            </a: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азвание проекта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40" name="Google Shape;140;p30" title="LOGO_RGB_pin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Общая информация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5939700" y="878575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4 356 967 руб. до НДС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3" name="Google Shape;143;p30"/>
          <p:cNvSpPr/>
          <p:nvPr/>
        </p:nvSpPr>
        <p:spPr>
          <a:xfrm>
            <a:off x="5939700" y="2804425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 мес</a:t>
            </a:r>
            <a:endParaRPr sz="9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2"/>
              <a:buFont typeface="Arial"/>
              <a:buNone/>
            </a:pPr>
            <a:r>
              <a:t/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4" name="Google Shape;144;p30"/>
          <p:cNvSpPr/>
          <p:nvPr/>
        </p:nvSpPr>
        <p:spPr>
          <a:xfrm>
            <a:off x="5939700" y="2279876"/>
            <a:ext cx="3204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Форматы для каждого видео каждого хрона: 16х9, 9х16,1х1, 4х5 ​​Все версии для digital должны быть с субтитрами и без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5" name="Google Shape;145;p30"/>
          <p:cNvSpPr/>
          <p:nvPr/>
        </p:nvSpPr>
        <p:spPr>
          <a:xfrm>
            <a:off x="5939700" y="130325"/>
            <a:ext cx="3204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Авито МЕД*</a:t>
            </a:r>
            <a:endParaRPr sz="9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2"/>
              <a:buFont typeface="Arial"/>
              <a:buNone/>
            </a:pPr>
            <a:r>
              <a:t/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146" name="Google Shape;146;p30"/>
          <p:cNvGrpSpPr/>
          <p:nvPr/>
        </p:nvGrpSpPr>
        <p:grpSpPr>
          <a:xfrm>
            <a:off x="3171818" y="4722264"/>
            <a:ext cx="2155957" cy="276900"/>
            <a:chOff x="177243" y="4728600"/>
            <a:chExt cx="2155957" cy="276900"/>
          </a:xfrm>
        </p:grpSpPr>
        <p:sp>
          <p:nvSpPr>
            <p:cNvPr id="147" name="Google Shape;147;p30"/>
            <p:cNvSpPr/>
            <p:nvPr/>
          </p:nvSpPr>
          <p:spPr>
            <a:xfrm>
              <a:off x="18460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48" name="Google Shape;148;p30"/>
            <p:cNvSpPr txBox="1"/>
            <p:nvPr/>
          </p:nvSpPr>
          <p:spPr>
            <a:xfrm>
              <a:off x="17724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600">
                  <a:latin typeface="Golos Text Medium"/>
                  <a:ea typeface="Golos Text Medium"/>
                  <a:cs typeface="Golos Text Medium"/>
                  <a:sym typeface="Golos Text Medium"/>
                </a:rPr>
                <a:t>Продакшн-подход</a:t>
              </a:r>
              <a:endParaRPr sz="600"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49" name="Google Shape;149;p30"/>
            <p:cNvSpPr/>
            <p:nvPr/>
          </p:nvSpPr>
          <p:spPr>
            <a:xfrm>
              <a:off x="216379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50" name="Google Shape;150;p30"/>
            <p:cNvSpPr/>
            <p:nvPr/>
          </p:nvSpPr>
          <p:spPr>
            <a:xfrm rot="5400000">
              <a:off x="220559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  <p:sp>
        <p:nvSpPr>
          <p:cNvPr id="151" name="Google Shape;151;p30"/>
          <p:cNvSpPr/>
          <p:nvPr/>
        </p:nvSpPr>
        <p:spPr>
          <a:xfrm>
            <a:off x="5939700" y="1298100"/>
            <a:ext cx="32043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Постоплата в течение 60 календарных дней с даты подписания акта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2" name="Google Shape;152;p30"/>
          <p:cNvSpPr/>
          <p:nvPr/>
        </p:nvSpPr>
        <p:spPr>
          <a:xfrm>
            <a:off x="5939700" y="1679575"/>
            <a:ext cx="320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Основная версия 20 сек., кат – 10 сек. - 1 видео 20 сек (16х9 с субтитрами и без)- 1 видео 10 сек каты (16х9 с субтитрами и без)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3" name="Google Shape;153;p30"/>
          <p:cNvSpPr txBox="1"/>
          <p:nvPr/>
        </p:nvSpPr>
        <p:spPr>
          <a:xfrm>
            <a:off x="102050" y="39870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highlight>
                  <a:schemeClr val="lt1"/>
                </a:highlight>
                <a:latin typeface="Golos Text"/>
                <a:ea typeface="Golos Text"/>
                <a:cs typeface="Golos Text"/>
                <a:sym typeface="Golos Text"/>
              </a:rPr>
              <a:t>*замени на актуальную информацию</a:t>
            </a:r>
            <a:endParaRPr sz="9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3088400" y="464626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Количество съемочных дней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3088400" y="855115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Бюджет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3088400" y="1277038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Порядок оплаты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3088400" y="1768174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Версии роликов 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и их хронометраж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3088400" y="2329763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Форматы и ресайзы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59" name="Google Shape;159;p30"/>
          <p:cNvSpPr/>
          <p:nvPr/>
        </p:nvSpPr>
        <p:spPr>
          <a:xfrm>
            <a:off x="3088400" y="2747261"/>
            <a:ext cx="30852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Сроки использования прав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60" name="Google Shape;160;p30"/>
          <p:cNvSpPr/>
          <p:nvPr/>
        </p:nvSpPr>
        <p:spPr>
          <a:xfrm>
            <a:off x="3098650" y="3175250"/>
            <a:ext cx="2438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Территория использования 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3088400" y="3581300"/>
            <a:ext cx="2438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FF8ADA"/>
              </a:buClr>
              <a:buSzPts val="842"/>
              <a:buFont typeface="Arial"/>
              <a:buNone/>
            </a:pPr>
            <a:r>
              <a:rPr lang="ru" sz="1242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Медиаканалы</a:t>
            </a:r>
            <a:endParaRPr sz="1242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62" name="Google Shape;162;p30"/>
          <p:cNvSpPr/>
          <p:nvPr/>
        </p:nvSpPr>
        <p:spPr>
          <a:xfrm>
            <a:off x="5939700" y="417550"/>
            <a:ext cx="3204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9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0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2"/>
              <a:buFont typeface="Arial"/>
              <a:buNone/>
            </a:pPr>
            <a:r>
              <a:t/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3" name="Google Shape;163;p30"/>
          <p:cNvSpPr/>
          <p:nvPr/>
        </p:nvSpPr>
        <p:spPr>
          <a:xfrm>
            <a:off x="5939700" y="3213175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РФ (ТВ) и весь мир (интернет) 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64" name="Google Shape;164;p30"/>
          <p:cNvSpPr/>
          <p:nvPr/>
        </p:nvSpPr>
        <p:spPr>
          <a:xfrm>
            <a:off x="5927000" y="3590825"/>
            <a:ext cx="3204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ТВ и интернет</a:t>
            </a:r>
            <a:endParaRPr sz="900"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Команда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115704" y="826150"/>
            <a:ext cx="4610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B7B7B7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Творческая группа </a:t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438075" y="1689325"/>
            <a:ext cx="3936000" cy="1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Режиссер - ФИО - ссылка на reel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Оператор - ФИО - ссылка на reel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Художник-постановщик ФИО - ссылка на reel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Художник по костюмам - ссылка на reel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Композитор - ссылка на reel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Фотограф - ссылка на reel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72" name="Google Shape;172;p31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1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1775549"/>
            <a:ext cx="255431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31"/>
          <p:cNvGrpSpPr/>
          <p:nvPr/>
        </p:nvGrpSpPr>
        <p:grpSpPr>
          <a:xfrm>
            <a:off x="7441540" y="4797663"/>
            <a:ext cx="1510679" cy="194024"/>
            <a:chOff x="4571993" y="4728600"/>
            <a:chExt cx="2155957" cy="276900"/>
          </a:xfrm>
        </p:grpSpPr>
        <p:sp>
          <p:nvSpPr>
            <p:cNvPr id="175" name="Google Shape;175;p31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6" name="Google Shape;176;p31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rgbClr val="FFFFFF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Продакшн-подход</a:t>
              </a:r>
              <a:endParaRPr sz="42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77" name="Google Shape;177;p31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78" name="Google Shape;178;p31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Продакшн подход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84" name="Google Shape;184;p32"/>
          <p:cNvSpPr txBox="1"/>
          <p:nvPr/>
        </p:nvSpPr>
        <p:spPr>
          <a:xfrm>
            <a:off x="115700" y="826150"/>
            <a:ext cx="83205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B7B7B7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OVERALL. </a:t>
            </a:r>
            <a:r>
              <a:rPr lang="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В смете заложено 2 смены по 12 съемочных часов. 1 день - дом и проезд. 2 день - квартира и кафе. В каждой смене предполагается по 1 переезду между локациями. Задачей локейшена будет собрать идеальные комбо локаций, чтобы минимизировать переезды. </a:t>
            </a:r>
            <a:r>
              <a:rPr i="1" lang="ru" sz="13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И дальше можно написать много-много текста.</a:t>
            </a:r>
            <a:endParaRPr i="1" sz="13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85" name="Google Shape;185;p32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32"/>
          <p:cNvGrpSpPr/>
          <p:nvPr/>
        </p:nvGrpSpPr>
        <p:grpSpPr>
          <a:xfrm>
            <a:off x="7441540" y="4797663"/>
            <a:ext cx="1510679" cy="194024"/>
            <a:chOff x="4571993" y="4728600"/>
            <a:chExt cx="2155957" cy="276900"/>
          </a:xfrm>
        </p:grpSpPr>
        <p:sp>
          <p:nvSpPr>
            <p:cNvPr id="187" name="Google Shape;187;p32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88" name="Google Shape;188;p32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rgbClr val="FFFFFF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Продакшн-подход</a:t>
              </a:r>
              <a:endParaRPr sz="42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89" name="Google Shape;189;p32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0" name="Google Shape;190;p32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Продакшн подход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438074" y="860090"/>
            <a:ext cx="3936000" cy="4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Техника.</a:t>
            </a: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Alexa Mini + комплект анаморфотной оптики.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На первый день стедикам, второй долли.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Локации.</a:t>
            </a: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Белград с точки зрения фактуры является самым выигрышным объектом — европейские экстерьеры могут быть выданы за интеллигентную архитектуру Москвы,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а интерьеры — эстетичные, без новоделов.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Фото. </a:t>
            </a: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Фотограф посчитан уровня Вити Горбачева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 командой. Снимаем в перестановках на арендованном однородном фоне. В ретушь заложили 30 фотографий.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Пост-продакшен. </a:t>
            </a: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Заложен режиссерский монтаж, технический монтаж на протяжении всего постпродакшен периода, цветокоррекция, работы по графике (клинапы, композ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телефона, демо и пэкшот), запись диктора в студии, написание музыки с композитором, SFX, сведение и подготовка мастеров по ТТ. 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97" name="Google Shape;197;p33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3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946313"/>
            <a:ext cx="255431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3"/>
          <p:cNvSpPr txBox="1"/>
          <p:nvPr/>
        </p:nvSpPr>
        <p:spPr>
          <a:xfrm>
            <a:off x="5016232" y="860096"/>
            <a:ext cx="3936000" cy="29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Кастинг. </a:t>
            </a: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Заложен местный кастинг — европейские типажи. По опыту с местным кастингом всегда дела обстоят хорошо.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Художественный департамент и костюм. </a:t>
            </a: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Додекорировка локаций и SFX дым в сценах с велосипедом. Костюм - пошив формы и аренда остальных образов.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Экспедиционные расходы. </a:t>
            </a:r>
            <a:r>
              <a:rPr lang="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Посчитана экспедиция для основной группы на 13 дней (включая тревел дни). Проживание в отеле 4* (творческая группа и клиент проживают в одном отеле для удобства логистики). Перелет эконом классом. От клиента заложили 5 человек, прилет — за день до PPM, вылет — в день презентации монтажа, вечером.</a:t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00" name="Google Shape;200;p33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4730491" y="946319"/>
            <a:ext cx="255431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33"/>
          <p:cNvGrpSpPr/>
          <p:nvPr/>
        </p:nvGrpSpPr>
        <p:grpSpPr>
          <a:xfrm>
            <a:off x="7441540" y="4797663"/>
            <a:ext cx="1510679" cy="194024"/>
            <a:chOff x="4571993" y="4728600"/>
            <a:chExt cx="2155957" cy="276900"/>
          </a:xfrm>
        </p:grpSpPr>
        <p:sp>
          <p:nvSpPr>
            <p:cNvPr id="202" name="Google Shape;202;p33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3" name="Google Shape;203;p33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rgbClr val="FFFFFF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Продакшн-подход</a:t>
              </a:r>
              <a:endParaRPr sz="42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04" name="Google Shape;204;p33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05" name="Google Shape;205;p33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Тайминг проекта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11" name="Google Shape;211;p34"/>
          <p:cNvSpPr txBox="1"/>
          <p:nvPr/>
        </p:nvSpPr>
        <p:spPr>
          <a:xfrm>
            <a:off x="115704" y="826150"/>
            <a:ext cx="4610100" cy="10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Подробный тайминг по ссылке. Ниже важные даты </a:t>
            </a:r>
            <a:endParaRPr sz="1300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и этапы проекта.</a:t>
            </a:r>
            <a:endParaRPr sz="1300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438074" y="1689325"/>
            <a:ext cx="39360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13.12 - подтверждение проекта 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14.12-21.12 - препродакшн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22.12 - ППМ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23.12 - съемка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24.12-28.12 - постпродакшн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30.12 - сдача эфирных версий</a:t>
            </a:r>
            <a:endParaRPr sz="11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213" name="Google Shape;213;p34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4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1775549"/>
            <a:ext cx="255431" cy="150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34"/>
          <p:cNvGrpSpPr/>
          <p:nvPr/>
        </p:nvGrpSpPr>
        <p:grpSpPr>
          <a:xfrm>
            <a:off x="7441540" y="4797663"/>
            <a:ext cx="1510679" cy="194024"/>
            <a:chOff x="4571993" y="4728600"/>
            <a:chExt cx="2155957" cy="276900"/>
          </a:xfrm>
        </p:grpSpPr>
        <p:sp>
          <p:nvSpPr>
            <p:cNvPr id="216" name="Google Shape;216;p34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17" name="Google Shape;217;p34"/>
            <p:cNvSpPr txBox="1"/>
            <p:nvPr/>
          </p:nvSpPr>
          <p:spPr>
            <a:xfrm>
              <a:off x="4571993" y="4728600"/>
              <a:ext cx="1292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rgbClr val="FFFFFF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Продакшн-подход</a:t>
              </a:r>
              <a:endParaRPr sz="420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218" name="Google Shape;218;p34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219" name="Google Shape;219;p34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50000">
              <a:srgbClr val="F9F9F9"/>
            </a:gs>
            <a:gs pos="100000">
              <a:srgbClr val="E8E8E8"/>
            </a:gs>
          </a:gsLst>
          <a:lin ang="5400012" scaled="0"/>
        </a:gra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5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5" y="2574285"/>
            <a:ext cx="8759525" cy="237383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5"/>
          <p:cNvSpPr txBox="1"/>
          <p:nvPr/>
        </p:nvSpPr>
        <p:spPr>
          <a:xfrm>
            <a:off x="80588" y="-14654"/>
            <a:ext cx="585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Как вам наш подход? </a:t>
            </a:r>
            <a:endParaRPr sz="30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26" name="Google Shape;226;p35"/>
          <p:cNvSpPr txBox="1"/>
          <p:nvPr/>
        </p:nvSpPr>
        <p:spPr>
          <a:xfrm>
            <a:off x="6571100" y="381000"/>
            <a:ext cx="279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Ждем</a:t>
            </a:r>
            <a:br>
              <a:rPr lang="ru" sz="3000"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" sz="3000">
                <a:latin typeface="Golos Text"/>
                <a:ea typeface="Golos Text"/>
                <a:cs typeface="Golos Text"/>
                <a:sym typeface="Golos Text"/>
              </a:rPr>
              <a:t>ваш фидбек</a:t>
            </a:r>
            <a:endParaRPr/>
          </a:p>
        </p:txBody>
      </p:sp>
      <p:pic>
        <p:nvPicPr>
          <p:cNvPr id="227" name="Google Shape;227;p35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5975708" y="463428"/>
            <a:ext cx="567200" cy="3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5"/>
          <p:cNvSpPr txBox="1"/>
          <p:nvPr/>
        </p:nvSpPr>
        <p:spPr>
          <a:xfrm>
            <a:off x="6068501" y="3535894"/>
            <a:ext cx="236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FF8ADA"/>
                </a:solidFill>
                <a:latin typeface="Golos Text"/>
                <a:ea typeface="Golos Text"/>
                <a:cs typeface="Golos Text"/>
                <a:sym typeface="Golos Text"/>
              </a:rPr>
              <a:t>hello@cult.team</a:t>
            </a:r>
            <a:endParaRPr sz="1300">
              <a:solidFill>
                <a:srgbClr val="FF8ADA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